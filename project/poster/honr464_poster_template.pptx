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nel: left column"/>
          <p:cNvSpPr/>
          <p:nvPr/>
        </p:nvSpPr>
        <p:spPr>
          <a:xfrm>
            <a:off x="0" y="6995160"/>
            <a:ext cx="12915900" cy="25923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nel: right column"/>
          <p:cNvSpPr/>
          <p:nvPr/>
        </p:nvSpPr>
        <p:spPr>
          <a:xfrm>
            <a:off x="30975300" y="6995160"/>
            <a:ext cx="12915900" cy="25923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85800" y="320040"/>
            <a:ext cx="28803600" cy="23317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0"/>
              </a:spcAft>
            </a:pPr>
            <a:r>
              <a:rPr sz="7200" b="1" i="0">
                <a:solidFill>
                  <a:srgbClr val="000000"/>
                </a:solidFill>
                <a:latin typeface="Arial"/>
              </a:rPr>
              <a:t>Title: your research problem and its answer</a:t>
            </a:r>
          </a:p>
        </p:txBody>
      </p:sp>
      <p:sp>
        <p:nvSpPr>
          <p:cNvPr id="5" name="Authors and affiliations"/>
          <p:cNvSpPr txBox="1"/>
          <p:nvPr/>
        </p:nvSpPr>
        <p:spPr>
          <a:xfrm>
            <a:off x="685800" y="2697480"/>
            <a:ext cx="28803600" cy="1371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000000"/>
                </a:solidFill>
                <a:latin typeface="Arial"/>
              </a:rPr>
              <a:t>Your Name</a:t>
            </a:r>
            <a:r>
              <a:rPr sz="3200" b="0" i="0">
                <a:solidFill>
                  <a:srgbClr val="000000"/>
                </a:solidFill>
                <a:latin typeface="Arial"/>
              </a:rPr>
              <a:t>  ·  Your major, Your college  ·  John Martinson Honors College, Purdue University</a:t>
            </a:r>
          </a:p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404040"/>
                </a:solidFill>
                <a:latin typeface="Arial"/>
              </a:rPr>
              <a:t>Faculty mentor: Professor Davi Moreira, Mitch Daniels School of Business  ·  your.email@purdue.edu</a:t>
            </a:r>
          </a:p>
        </p:txBody>
      </p:sp>
      <p:pic>
        <p:nvPicPr>
          <p:cNvPr id="6" name="Purdue University mark" descr="Purdue University"/>
          <p:cNvPicPr>
            <a:picLocks noChangeAspect="1"/>
          </p:cNvPicPr>
          <p:nvPr/>
        </p:nvPicPr>
        <p:blipFill>
          <a:blip r:embed="rId2"/>
          <a:srcRect r="45327"/>
          <a:stretch>
            <a:fillRect/>
          </a:stretch>
        </p:blipFill>
        <p:spPr>
          <a:xfrm>
            <a:off x="30358080" y="685800"/>
            <a:ext cx="8190497" cy="1600200"/>
          </a:xfrm>
          <a:prstGeom prst="rect">
            <a:avLst/>
          </a:prstGeom>
        </p:spPr>
      </p:pic>
      <p:sp>
        <p:nvSpPr>
          <p:cNvPr id="7" name="Lockup rule"/>
          <p:cNvSpPr/>
          <p:nvPr/>
        </p:nvSpPr>
        <p:spPr>
          <a:xfrm>
            <a:off x="38868617" y="731520"/>
            <a:ext cx="36576" cy="1508760"/>
          </a:xfrm>
          <a:prstGeom prst="rect">
            <a:avLst/>
          </a:prstGeom>
          <a:solidFill>
            <a:srgbClr val="8E8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onors College"/>
          <p:cNvSpPr txBox="1"/>
          <p:nvPr/>
        </p:nvSpPr>
        <p:spPr>
          <a:xfrm>
            <a:off x="39097217" y="640080"/>
            <a:ext cx="4108182" cy="173736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John Martinson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Honors College</a:t>
            </a:r>
          </a:p>
        </p:txBody>
      </p:sp>
      <p:sp>
        <p:nvSpPr>
          <p:cNvPr id="9" name="Draft tag (delete at the M13 lock)"/>
          <p:cNvSpPr/>
          <p:nvPr/>
        </p:nvSpPr>
        <p:spPr>
          <a:xfrm>
            <a:off x="34518600" y="2743200"/>
            <a:ext cx="8686800" cy="960120"/>
          </a:xfrm>
          <a:prstGeom prst="round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PRELIMINARY DRAFT · version 1</a:t>
            </a:r>
          </a:p>
        </p:txBody>
      </p:sp>
      <p:sp>
        <p:nvSpPr>
          <p:cNvPr id="10" name="Headline banner"/>
          <p:cNvSpPr/>
          <p:nvPr/>
        </p:nvSpPr>
        <p:spPr>
          <a:xfrm>
            <a:off x="685800" y="4160520"/>
            <a:ext cx="42519600" cy="2697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411480" bIns="41148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CFB991"/>
                </a:solidFill>
                <a:latin typeface="Arial"/>
              </a:rPr>
              <a:t>HEADLINE  </a:t>
            </a:r>
            <a:r>
              <a:rPr sz="4600" b="1" i="0">
                <a:solidFill>
                  <a:srgbClr val="FFFFFF"/>
                </a:solidFill>
                <a:latin typeface="Arial"/>
              </a:rPr>
              <a:t>Your main finding, with the uncertainty or boundary that changes how a reader should take it.</a:t>
            </a:r>
          </a:p>
          <a:p>
            <a:pPr algn="l">
              <a:spcAft>
                <a:spcPts val="1000"/>
              </a:spcAft>
            </a:pPr>
            <a:r>
              <a:rPr sz="3200" b="0" i="1">
                <a:solidFill>
                  <a:srgbClr val="CFB991"/>
                </a:solidFill>
                <a:latin typeface="Arial"/>
              </a:rPr>
              <a:t>Simulated example: checkout version B averaged 3.2 points higher than version A, but the 95% interval for that difference runs from −2.5 to 9.0 points (12 weekly samples per version, one store).</a:t>
            </a:r>
          </a:p>
        </p:txBody>
      </p:sp>
      <p:sp>
        <p:nvSpPr>
          <p:cNvPr id="11" name="Heading: THE QUESTION AND WHAT IT ADDS"/>
          <p:cNvSpPr/>
          <p:nvPr/>
        </p:nvSpPr>
        <p:spPr>
          <a:xfrm>
            <a:off x="685800" y="7315200"/>
            <a:ext cx="1188720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FB991"/>
                </a:solidFill>
                <a:latin typeface="Arial"/>
              </a:rPr>
              <a:t>THE QUESTION AND WHAT IT ADDS</a:t>
            </a:r>
          </a:p>
        </p:txBody>
      </p:sp>
      <p:sp>
        <p:nvSpPr>
          <p:cNvPr id="12" name="Question text"/>
          <p:cNvSpPr txBox="1"/>
          <p:nvPr/>
        </p:nvSpPr>
        <p:spPr>
          <a:xfrm>
            <a:off x="685800" y="8275319"/>
            <a:ext cx="11887200" cy="75895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Your research question,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in one sentence that ends with a question mark, and why it matters, and to whom.</a:t>
            </a:r>
          </a:p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What the literature already establishes,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from at least two sources you read yourself (Author, Year).</a:t>
            </a:r>
          </a:p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What your project adds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to that conclusion.</a:t>
            </a:r>
          </a:p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Your main hypothesis,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as you recorded it before the analysis ran. Label any analysis you added later as exploratory.</a:t>
            </a:r>
          </a:p>
        </p:txBody>
      </p:sp>
      <p:sp>
        <p:nvSpPr>
          <p:cNvPr id="13" name="Heading: DESIGN: WHAT YOUR CLAIM NEEDS"/>
          <p:cNvSpPr/>
          <p:nvPr/>
        </p:nvSpPr>
        <p:spPr>
          <a:xfrm>
            <a:off x="685800" y="16047720"/>
            <a:ext cx="1188720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FB991"/>
                </a:solidFill>
                <a:latin typeface="Arial"/>
              </a:rPr>
              <a:t>DESIGN: WHAT YOUR CLAIM NEEDS</a:t>
            </a:r>
          </a:p>
        </p:txBody>
      </p:sp>
      <p:sp>
        <p:nvSpPr>
          <p:cNvPr id="14" name="Compass box: KIND: label"/>
          <p:cNvSpPr/>
          <p:nvPr/>
        </p:nvSpPr>
        <p:spPr>
          <a:xfrm>
            <a:off x="685800" y="17099280"/>
            <a:ext cx="2834640" cy="10972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FB991"/>
                </a:solidFill>
                <a:latin typeface="Arial"/>
              </a:rPr>
              <a:t>KIND</a:t>
            </a:r>
          </a:p>
        </p:txBody>
      </p:sp>
      <p:sp>
        <p:nvSpPr>
          <p:cNvPr id="15" name="Compass box: KIND"/>
          <p:cNvSpPr/>
          <p:nvPr/>
        </p:nvSpPr>
        <p:spPr>
          <a:xfrm>
            <a:off x="3520440" y="17099280"/>
            <a:ext cx="9052560" cy="10972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☐ Descriptive   ☐ Causal.  If your aim is prediction, say so here.</a:t>
            </a:r>
          </a:p>
        </p:txBody>
      </p:sp>
      <p:sp>
        <p:nvSpPr>
          <p:cNvPr id="16" name="Compass box: REACH: label"/>
          <p:cNvSpPr/>
          <p:nvPr/>
        </p:nvSpPr>
        <p:spPr>
          <a:xfrm>
            <a:off x="685800" y="18333720"/>
            <a:ext cx="2834640" cy="1600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FB991"/>
                </a:solidFill>
                <a:latin typeface="Arial"/>
              </a:rPr>
              <a:t>REACH</a:t>
            </a:r>
          </a:p>
        </p:txBody>
      </p:sp>
      <p:sp>
        <p:nvSpPr>
          <p:cNvPr id="17" name="Compass box: REACH"/>
          <p:cNvSpPr/>
          <p:nvPr/>
        </p:nvSpPr>
        <p:spPr>
          <a:xfrm>
            <a:off x="3520440" y="18333720"/>
            <a:ext cx="905256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☐ A population beyond your data: name its units, setting, and period.  ☐ Unseen cases: which ones, from which population.</a:t>
            </a:r>
          </a:p>
        </p:txBody>
      </p:sp>
      <p:sp>
        <p:nvSpPr>
          <p:cNvPr id="18" name="Compass box: TARGET: label"/>
          <p:cNvSpPr/>
          <p:nvPr/>
        </p:nvSpPr>
        <p:spPr>
          <a:xfrm>
            <a:off x="685800" y="20071080"/>
            <a:ext cx="2834640" cy="1600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FB991"/>
                </a:solidFill>
                <a:latin typeface="Arial"/>
              </a:rPr>
              <a:t>TARGET</a:t>
            </a:r>
          </a:p>
        </p:txBody>
      </p:sp>
      <p:sp>
        <p:nvSpPr>
          <p:cNvPr id="19" name="Compass box: TARGET"/>
          <p:cNvSpPr/>
          <p:nvPr/>
        </p:nvSpPr>
        <p:spPr>
          <a:xfrm>
            <a:off x="3520440" y="20071080"/>
            <a:ext cx="905256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The exact quantity you estimate or predict: outcome, comparison, units, time frame.</a:t>
            </a:r>
          </a:p>
        </p:txBody>
      </p:sp>
      <p:sp>
        <p:nvSpPr>
          <p:cNvPr id="20" name="Compass box: WARRANT: label"/>
          <p:cNvSpPr/>
          <p:nvPr/>
        </p:nvSpPr>
        <p:spPr>
          <a:xfrm>
            <a:off x="685800" y="21808439"/>
            <a:ext cx="2834640" cy="2514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FB991"/>
                </a:solidFill>
                <a:latin typeface="Arial"/>
              </a:rPr>
              <a:t>WARRANT</a:t>
            </a:r>
          </a:p>
        </p:txBody>
      </p:sp>
      <p:sp>
        <p:nvSpPr>
          <p:cNvPr id="21" name="Compass box: WARRANT"/>
          <p:cNvSpPr/>
          <p:nvPr/>
        </p:nvSpPr>
        <p:spPr>
          <a:xfrm>
            <a:off x="3520440" y="21808439"/>
            <a:ext cx="9052560" cy="25146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What carries the claim across: sampling → a population · assignment or identification (with its assumptions) → a cause · a held-out test against a baseline → unseen cases. Then: what your evidence cannot yet support.</a:t>
            </a:r>
          </a:p>
        </p:txBody>
      </p:sp>
      <p:sp>
        <p:nvSpPr>
          <p:cNvPr id="22" name="Heading: DATA AND MEASUREMENT"/>
          <p:cNvSpPr/>
          <p:nvPr/>
        </p:nvSpPr>
        <p:spPr>
          <a:xfrm>
            <a:off x="685800" y="24688799"/>
            <a:ext cx="1188720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FB991"/>
                </a:solidFill>
                <a:latin typeface="Arial"/>
              </a:rPr>
              <a:t>DATA AND MEASUREMENT</a:t>
            </a:r>
          </a:p>
        </p:txBody>
      </p:sp>
      <p:graphicFrame>
        <p:nvGraphicFramePr>
          <p:cNvPr id="23" name="Data card"/>
          <p:cNvGraphicFramePr>
            <a:graphicFrameLocks noGrp="1"/>
          </p:cNvGraphicFramePr>
          <p:nvPr/>
        </p:nvGraphicFramePr>
        <p:xfrm>
          <a:off x="685800" y="25740359"/>
          <a:ext cx="11887200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859536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000000"/>
                          </a:solidFill>
                          <a:latin typeface="Arial"/>
                        </a:rPr>
                        <a:t>Source and route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[archive, URL or DOI, retrieval date; or your collection protocol]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000000"/>
                          </a:solidFill>
                          <a:latin typeface="Arial"/>
                        </a:rPr>
                        <a:t>Observations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[number of rows or measurements]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000000"/>
                          </a:solidFill>
                          <a:latin typeface="Arial"/>
                        </a:rPr>
                        <a:t>Independent units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[people, sites, groups …] and how observations are grouped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000000"/>
                          </a:solidFill>
                          <a:latin typeface="Arial"/>
                        </a:rPr>
                        <a:t>Time window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[from … to …]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000000"/>
                          </a:solidFill>
                          <a:latin typeface="Arial"/>
                        </a:rPr>
                        <a:t>Concept → measure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[concept] → [variable or item]; main validity concern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000000"/>
                          </a:solidFill>
                          <a:latin typeface="Arial"/>
                        </a:rPr>
                        <a:t>Missing data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[how much, and what you did]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000000"/>
                          </a:solidFill>
                          <a:latin typeface="Arial"/>
                        </a:rPr>
                        <a:t>Permissions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[data licence; IRB determination]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Heading: MAIN RESULT"/>
          <p:cNvSpPr/>
          <p:nvPr/>
        </p:nvSpPr>
        <p:spPr>
          <a:xfrm>
            <a:off x="13258800" y="7315200"/>
            <a:ext cx="1737360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FB991"/>
                </a:solidFill>
                <a:latin typeface="Arial"/>
              </a:rPr>
              <a:t>MAIN RESULT</a:t>
            </a:r>
          </a:p>
        </p:txBody>
      </p:sp>
      <p:sp>
        <p:nvSpPr>
          <p:cNvPr id="25" name="Example stamp"/>
          <p:cNvSpPr txBox="1"/>
          <p:nvPr/>
        </p:nvSpPr>
        <p:spPr>
          <a:xfrm>
            <a:off x="13258800" y="8275319"/>
            <a:ext cx="17373600" cy="5943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8A1C2B"/>
                </a:solidFill>
                <a:latin typeface="Arial"/>
              </a:rPr>
              <a:t>EXAMPLE · replace it with the figure your notebook produced, and replace its alt text with yours</a:t>
            </a:r>
          </a:p>
        </p:txBody>
      </p:sp>
      <p:pic>
        <p:nvPicPr>
          <p:cNvPr id="26" name="Example figure (replace)" descr="Simulated example. Left: mean checkout completion rate by version, A about 71 percent and B about 74 percent, each with a 95 percent interval of about plus or minus 4 points. Right: the difference, B minus A, 3.2 points, with a 95 percent interval from −2.5 to 9.0 points that crosses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0" y="8915400"/>
            <a:ext cx="17373600" cy="10058400"/>
          </a:xfrm>
          <a:prstGeom prst="rect">
            <a:avLst/>
          </a:prstGeom>
        </p:spPr>
      </p:pic>
      <p:sp>
        <p:nvSpPr>
          <p:cNvPr id="27" name="Figure caption"/>
          <p:cNvSpPr txBox="1"/>
          <p:nvPr/>
        </p:nvSpPr>
        <p:spPr>
          <a:xfrm>
            <a:off x="13258800" y="19065240"/>
            <a:ext cx="17373600" cy="1691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Fig. 1.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Say what the figure shows and for which units; n = [observations] from [independent units]; the interval's type, level and method; bars start at zero. Source: [notebook], cell [N]. In the example, panel (b) carries the comparison the headline is about: the interval of the difference, not whether the two intervals in (a) overlap.</a:t>
            </a:r>
          </a:p>
        </p:txBody>
      </p:sp>
      <p:sp>
        <p:nvSpPr>
          <p:cNvPr id="28" name="Result text"/>
          <p:cNvSpPr txBox="1"/>
          <p:nvPr/>
        </p:nvSpPr>
        <p:spPr>
          <a:xfrm>
            <a:off x="13258800" y="20848320"/>
            <a:ext cx="17373600" cy="18288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The result,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in one or two sentences: the estimate, its units, and the uncertainty it warrants (an interval, or a precise caveat saying why none is warranted), in the words your boundary allows.</a:t>
            </a:r>
          </a:p>
        </p:txBody>
      </p:sp>
      <p:sp>
        <p:nvSpPr>
          <p:cNvPr id="29" name="Heading: CHECKS AND VERIFICATION"/>
          <p:cNvSpPr/>
          <p:nvPr/>
        </p:nvSpPr>
        <p:spPr>
          <a:xfrm>
            <a:off x="13258800" y="25877520"/>
            <a:ext cx="1737360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FB991"/>
                </a:solidFill>
                <a:latin typeface="Arial"/>
              </a:rPr>
              <a:t>CHECKS AND VERIFICATION</a:t>
            </a:r>
          </a:p>
        </p:txBody>
      </p:sp>
      <p:sp>
        <p:nvSpPr>
          <p:cNvPr id="30" name="Checks text"/>
          <p:cNvSpPr txBox="1"/>
          <p:nvPr/>
        </p:nvSpPr>
        <p:spPr>
          <a:xfrm>
            <a:off x="13258800" y="26837640"/>
            <a:ext cx="17373600" cy="47091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Analysis: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what you declared before seeing results and why it fits your design; any later change, and why.</a:t>
            </a:r>
          </a:p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Uncertainty: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how you computed it, at the level of your independent unit, with any dependence named.</a:t>
            </a:r>
          </a:p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One check: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a robustness, sensitivity, or diagnostic check, and what it changed.</a:t>
            </a:r>
          </a:p>
        </p:txBody>
      </p:sp>
      <p:sp>
        <p:nvSpPr>
          <p:cNvPr id="31" name="Heading: WHAT IT MEANS, AND WHERE IT STOPS"/>
          <p:cNvSpPr/>
          <p:nvPr/>
        </p:nvSpPr>
        <p:spPr>
          <a:xfrm>
            <a:off x="31318200" y="7315200"/>
            <a:ext cx="1188720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CFB991"/>
                </a:solidFill>
                <a:latin typeface="Arial"/>
              </a:rPr>
              <a:t>WHAT IT MEANS, AND WHERE IT STOPS</a:t>
            </a:r>
          </a:p>
        </p:txBody>
      </p:sp>
      <p:sp>
        <p:nvSpPr>
          <p:cNvPr id="32" name="Boundary: THIS EVIDENCE SUPPORTS"/>
          <p:cNvSpPr/>
          <p:nvPr/>
        </p:nvSpPr>
        <p:spPr>
          <a:xfrm>
            <a:off x="31318200" y="8366759"/>
            <a:ext cx="1188720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00000"/>
                </a:solidFill>
                <a:latin typeface="Arial"/>
              </a:rPr>
              <a:t>THIS EVIDENCE SUPPORTS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[your claim, with its verb and its population]</a:t>
            </a:r>
          </a:p>
        </p:txBody>
      </p:sp>
      <p:sp>
        <p:nvSpPr>
          <p:cNvPr id="33" name="Boundary: IT DOES NOT YET SUPPORT"/>
          <p:cNvSpPr/>
          <p:nvPr/>
        </p:nvSpPr>
        <p:spPr>
          <a:xfrm>
            <a:off x="31318200" y="10607039"/>
            <a:ext cx="1188720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00000"/>
                </a:solidFill>
                <a:latin typeface="Arial"/>
              </a:rPr>
              <a:t>IT DOES NOT YET SUPPORT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[the larger claim a visitor might infer: a cause, a wider population, a longer time]</a:t>
            </a:r>
          </a:p>
        </p:txBody>
      </p:sp>
      <p:sp>
        <p:nvSpPr>
          <p:cNvPr id="34" name="Meaning and ULN text"/>
          <p:cNvSpPr txBox="1"/>
          <p:nvPr/>
        </p:nvSpPr>
        <p:spPr>
          <a:xfrm>
            <a:off x="31318200" y="12984480"/>
            <a:ext cx="11887200" cy="69037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Answer: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your question, in one sentence, no more strongly than the evidence allows.</a:t>
            </a:r>
          </a:p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Uncertainty: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how far the estimate could move.</a:t>
            </a:r>
          </a:p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Limitation: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the one most likely to change the finding.</a:t>
            </a:r>
          </a:p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000000"/>
                </a:solidFill>
                <a:latin typeface="Arial"/>
              </a:rPr>
              <a:t>Next step:</a:t>
            </a:r>
            <a:r>
              <a:rPr sz="2600" b="0" i="0">
                <a:solidFill>
                  <a:srgbClr val="000000"/>
                </a:solidFill>
                <a:latin typeface="Arial"/>
              </a:rPr>
              <a:t> the study that would settle it.</a:t>
            </a:r>
          </a:p>
        </p:txBody>
      </p:sp>
      <p:sp>
        <p:nvSpPr>
          <p:cNvPr id="35" name="Heading: SOURCES, AI USE, AND CREDITS"/>
          <p:cNvSpPr/>
          <p:nvPr/>
        </p:nvSpPr>
        <p:spPr>
          <a:xfrm>
            <a:off x="31318200" y="20162520"/>
            <a:ext cx="1188720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CFB991"/>
                </a:solidFill>
                <a:latin typeface="Arial"/>
              </a:rPr>
              <a:t>SOURCES, AI USE, AND CREDITS</a:t>
            </a:r>
          </a:p>
        </p:txBody>
      </p:sp>
      <p:sp>
        <p:nvSpPr>
          <p:cNvPr id="36" name="AI disclosure"/>
          <p:cNvSpPr txBox="1"/>
          <p:nvPr/>
        </p:nvSpPr>
        <p:spPr>
          <a:xfrm>
            <a:off x="31318200" y="21122640"/>
            <a:ext cx="11887200" cy="39319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AI use, on the poster itself.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One line per tool:</a:t>
            </a:r>
          </a:p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000000"/>
                </a:solidFill>
                <a:latin typeface="Arial"/>
              </a:rPr>
              <a:t>[Tool]: used to [purpose]; I [changed / kept what]; I checked it by [method].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404040"/>
                </a:solidFill>
                <a:latin typeface="Arial"/>
              </a:rPr>
              <a:t>Write “No AI used” only if that is true.</a:t>
            </a:r>
          </a:p>
        </p:txBody>
      </p:sp>
      <p:sp>
        <p:nvSpPr>
          <p:cNvPr id="37" name="References text"/>
          <p:cNvSpPr txBox="1"/>
          <p:nvPr/>
        </p:nvSpPr>
        <p:spPr>
          <a:xfrm>
            <a:off x="31318200" y="25146000"/>
            <a:ext cx="11887200" cy="30175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References.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Three to six sources you opened yourself: Author (Year). Title. Venue. DOI or URL.</a:t>
            </a:r>
          </a:p>
        </p:txBody>
      </p:sp>
      <p:sp>
        <p:nvSpPr>
          <p:cNvPr id="38" name="Acknowledgments text"/>
          <p:cNvSpPr txBox="1"/>
          <p:nvPr/>
        </p:nvSpPr>
        <p:spPr>
          <a:xfrm>
            <a:off x="31318200" y="28254960"/>
            <a:ext cx="9372600" cy="3291839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Acknowledgments.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I thank Professor Davi Moreira for mentoring this project, and the John Martinson Honors College and the Office of Undergraduate Research for the chance to present it. [Thank any data provider, participants, or funder.]</a:t>
            </a:r>
          </a:p>
        </p:txBody>
      </p:sp>
      <p:sp>
        <p:nvSpPr>
          <p:cNvPr id="39" name="QR code placeholder"/>
          <p:cNvSpPr/>
          <p:nvPr/>
        </p:nvSpPr>
        <p:spPr>
          <a:xfrm>
            <a:off x="40873680" y="28346400"/>
            <a:ext cx="2331720" cy="2331720"/>
          </a:xfrm>
          <a:prstGeom prst="rect">
            <a:avLst/>
          </a:prstGeom>
          <a:solidFill>
            <a:srgbClr val="FFFFFF"/>
          </a:solidFill>
          <a:ln w="31750">
            <a:solidFill>
              <a:srgbClr val="8E8E8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404040"/>
                </a:solidFill>
                <a:latin typeface="Arial"/>
              </a:rPr>
              <a:t>Optional QR + short URL: a text version of this poster</a:t>
            </a:r>
          </a:p>
        </p:txBody>
      </p:sp>
      <p:sp>
        <p:nvSpPr>
          <p:cNvPr id="40" name="Verification status line"/>
          <p:cNvSpPr txBox="1"/>
          <p:nvPr/>
        </p:nvSpPr>
        <p:spPr>
          <a:xfrm>
            <a:off x="685800" y="31866840"/>
            <a:ext cx="25146000" cy="7772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Arial"/>
              </a:rPr>
              <a:t>Verification status: [what has been checked, by whom, and when; what is still pending] · Poster version [N], [date]</a:t>
            </a:r>
          </a:p>
        </p:txBody>
      </p:sp>
      <p:sp>
        <p:nvSpPr>
          <p:cNvPr id="41" name="Status line"/>
          <p:cNvSpPr txBox="1"/>
          <p:nvPr/>
        </p:nvSpPr>
        <p:spPr>
          <a:xfrm>
            <a:off x="26060400" y="31866840"/>
            <a:ext cx="17145000" cy="7772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r"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Arial"/>
              </a:rPr>
              <a:t>Preliminary results · HONR 46400 Evidence-Driven Research · Purdue Fall Undergraduate Research Expo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Guide title"/>
          <p:cNvSpPr txBox="1"/>
          <p:nvPr/>
        </p:nvSpPr>
        <p:spPr>
          <a:xfrm>
            <a:off x="685800" y="548640"/>
            <a:ext cx="42519600" cy="20116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000"/>
              </a:spcAft>
            </a:pPr>
            <a:r>
              <a:rPr sz="7200" b="1" i="0">
                <a:solidFill>
                  <a:srgbClr val="000000"/>
                </a:solidFill>
                <a:latin typeface="Arial"/>
              </a:rPr>
              <a:t>READ ME: how to use this template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8A1C2B"/>
                </a:solidFill>
                <a:latin typeface="Arial"/>
              </a:rPr>
              <a:t>This page is hidden, but some export settings still include hidden slides. Export slide 1 only, or delete this page first.</a:t>
            </a:r>
          </a:p>
        </p:txBody>
      </p:sp>
      <p:sp>
        <p:nvSpPr>
          <p:cNvPr id="3" name="Heading: PRINT SPECIFICATION"/>
          <p:cNvSpPr/>
          <p:nvPr/>
        </p:nvSpPr>
        <p:spPr>
          <a:xfrm>
            <a:off x="685800" y="3840480"/>
            <a:ext cx="1356360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FB991"/>
                </a:solidFill>
                <a:latin typeface="Arial"/>
              </a:rPr>
              <a:t>PRINT SPECIFICATION</a:t>
            </a:r>
          </a:p>
        </p:txBody>
      </p:sp>
      <p:sp>
        <p:nvSpPr>
          <p:cNvPr id="4" name="Guide: print spec"/>
          <p:cNvSpPr txBox="1"/>
          <p:nvPr/>
        </p:nvSpPr>
        <p:spPr>
          <a:xfrm>
            <a:off x="685800" y="4800600"/>
            <a:ext cx="13563600" cy="16459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Size: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48 × 36 in, landscape, the Expo's standard 4′ × 3′ board. Do not change the slide size.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Type at print size: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title 72 pt or more; headline 44 pt; headings 32 pt; everything substantive, including the compass, the data card, the boundary boxes and the AI disclosure, 24 pt; captions, references, acknowledgments and footer 18 pt. If it does not fit, cut or reorganize. Never shrink below these.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Figures: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save each one from your notebook as PNG at 300 dpi at the size it will print, or as PDF or SVG. Never paste a screenshot. Right-click → Edit Alt Text, and write what the figure shows.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Export: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export slide 1 only, as a PDF. Open it and check: exactly one page, 48 × 36 in, nothing clipped, no missing figure. Then print one crop at actual size, without “fit to page”, and measure it with a ruler. Screen zoom does not tell you the printed size.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Files: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M10: lastname_m10_poster.pptx and lastname_m10_poster.pdf. M11: lastname_m11_posterdraft.pdf. M13: lastname_m13_poster.pdf, the print file, poster only.</a:t>
            </a:r>
          </a:p>
        </p:txBody>
      </p:sp>
      <p:sp>
        <p:nvSpPr>
          <p:cNvPr id="5" name="Heading: RULES THE BOARD KEEPS"/>
          <p:cNvSpPr/>
          <p:nvPr/>
        </p:nvSpPr>
        <p:spPr>
          <a:xfrm>
            <a:off x="15163800" y="3840480"/>
            <a:ext cx="1356360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FB991"/>
                </a:solidFill>
                <a:latin typeface="Arial"/>
              </a:rPr>
              <a:t>RULES THE BOARD KEEPS</a:t>
            </a:r>
          </a:p>
        </p:txBody>
      </p:sp>
      <p:sp>
        <p:nvSpPr>
          <p:cNvPr id="6" name="Guide: rules"/>
          <p:cNvSpPr txBox="1"/>
          <p:nvPr/>
        </p:nvSpPr>
        <p:spPr>
          <a:xfrm>
            <a:off x="15163800" y="4800600"/>
            <a:ext cx="13563600" cy="269748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No result appears first on the poster.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Every result, figure and citation comes from your M9 note and its claim-evidence table. If a check changes a number, keep the submitted note, write a dated corrected version, then update the poster.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Trace what you print.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A result you computed traces to its notebook cell; a statistic from a source traces to that source; rounding is documented.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The qualifier travels with the claim,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in the same eye-span as the headline.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Causal wording only with a defended identification argument;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population wording only with a reach argument.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Two channels for every distinction: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a label or a pattern, with colour as a bonus.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Replace every bracket, every prompt and every EXAMPLE item.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Panels may move, merge or resize; every kind of information stays.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Draft tag through M11; delete it at the M13 lock.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Keep “Preliminary results” in the footer: the project closes in December.</a:t>
            </a:r>
          </a:p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AI:</a:t>
            </a:r>
            <a:r>
              <a:rPr sz="3400" b="0" i="0">
                <a:solidFill>
                  <a:srgbClr val="000000"/>
                </a:solidFill>
                <a:latin typeface="Arial"/>
              </a:rPr>
              <a:t> disclose on the poster itself, per tool: purpose, what you changed or kept, how you checked it. The Expo does not accept AI-generated sections or abstracts, or a poster designed by AI without substantial human input. Every AI step also gets a ledger row.</a:t>
            </a:r>
          </a:p>
        </p:txBody>
      </p:sp>
      <p:sp>
        <p:nvSpPr>
          <p:cNvPr id="7" name="Heading: PANEL → RUBRIC → BOOK"/>
          <p:cNvSpPr/>
          <p:nvPr/>
        </p:nvSpPr>
        <p:spPr>
          <a:xfrm>
            <a:off x="29641800" y="3840480"/>
            <a:ext cx="1356360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FB991"/>
                </a:solidFill>
                <a:latin typeface="Arial"/>
              </a:rPr>
              <a:t>PANEL → RUBRIC → BOOK</a:t>
            </a:r>
          </a:p>
        </p:txBody>
      </p:sp>
      <p:graphicFrame>
        <p:nvGraphicFramePr>
          <p:cNvPr id="8" name="Guide: panel map"/>
          <p:cNvGraphicFramePr>
            <a:graphicFrameLocks noGrp="1"/>
          </p:cNvGraphicFramePr>
          <p:nvPr/>
        </p:nvGraphicFramePr>
        <p:xfrm>
          <a:off x="29641800" y="4892040"/>
          <a:ext cx="13563600" cy="9052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11440"/>
                <a:gridCol w="1828800"/>
                <a:gridCol w="4023360"/>
              </a:tblGrid>
              <a:tr h="1005840">
                <a:tc>
                  <a:txBody>
                    <a:bodyPr wrap="square"/>
                    <a:lstStyle/>
                    <a:p>
                      <a:r>
                        <a:rPr sz="2800" b="1">
                          <a:solidFill>
                            <a:srgbClr val="CFB991"/>
                          </a:solidFill>
                          <a:latin typeface="Arial"/>
                        </a:rPr>
                        <a:t>Panel</a:t>
                      </a:r>
                    </a:p>
                  </a:txBody>
                  <a:tcPr marL="109728" marR="109728" marT="54864" marB="54864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1">
                          <a:solidFill>
                            <a:srgbClr val="CFB991"/>
                          </a:solidFill>
                          <a:latin typeface="Arial"/>
                        </a:rPr>
                        <a:t>Rubric</a:t>
                      </a:r>
                    </a:p>
                  </a:txBody>
                  <a:tcPr marL="109728" marR="109728" marT="54864" marB="54864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1">
                          <a:solidFill>
                            <a:srgbClr val="CFB991"/>
                          </a:solidFill>
                          <a:latin typeface="Arial"/>
                        </a:rPr>
                        <a:t>Book</a:t>
                      </a:r>
                    </a:p>
                  </a:txBody>
                  <a:tcPr marL="109728" marR="109728" marT="54864" marB="54864">
                    <a:solidFill>
                      <a:srgbClr val="000000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Title · The question and what it adds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Ch. 1, 7–9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Design: what your claim needs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Ch. 6–7, 10, 12, 14–19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Data and measurement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Ch. 13, 20–21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Checks and verification · status line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Ch. 11, 22–25, 36–37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Main result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Ch. 32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Headline · What it means, and where it stops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Ch. 28–29, 35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Sources, AI use, and credits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Ch. 9, 30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The whole board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000000"/>
                          </a:solidFill>
                          <a:latin typeface="Arial"/>
                        </a:rPr>
                        <a:t>Ch. 32–33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Guide: rubric"/>
          <p:cNvSpPr txBox="1"/>
          <p:nvPr/>
        </p:nvSpPr>
        <p:spPr>
          <a:xfrm>
            <a:off x="29641800" y="16002000"/>
            <a:ext cx="13563600" cy="7315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noAutofit/>
          </a:bodyPr>
          <a:lstStyle/>
          <a:p>
            <a:pPr algn="l">
              <a:spcAft>
                <a:spcPts val="1400"/>
              </a:spcAft>
            </a:pPr>
            <a:r>
              <a:rPr sz="3400" b="0" i="0">
                <a:solidFill>
                  <a:srgbClr val="000000"/>
                </a:solidFill>
                <a:latin typeface="Arial"/>
              </a:rPr>
              <a:t>The final poster (M13) is graded with Evidence_Driven_Research_Poster_Rubric.pdf, handed out with this template: eight criteria, 100 points, with hard caps. Read it before you build, not after.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HONR 46400 research poster template</dc:title>
  <dc:subject>Purdue Fall Undergraduate Research Expo poster, 48 x 36 in</dc:subject>
  <dc:creator>Davi Moreira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