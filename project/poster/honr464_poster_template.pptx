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10896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nel: left column"/>
          <p:cNvSpPr/>
          <p:nvPr/>
        </p:nvSpPr>
        <p:spPr>
          <a:xfrm>
            <a:off x="0" y="4434840"/>
            <a:ext cx="7909559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nel: right column"/>
          <p:cNvSpPr/>
          <p:nvPr/>
        </p:nvSpPr>
        <p:spPr>
          <a:xfrm>
            <a:off x="23180039" y="4434840"/>
            <a:ext cx="7909560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uthor photo (replace with yours; optional)" descr="Author 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1920240"/>
          </a:xfrm>
          <a:prstGeom prst="rect">
            <a:avLst/>
          </a:prstGeom>
        </p:spPr>
      </p:pic>
      <p:pic>
        <p:nvPicPr>
          <p:cNvPr id="5" name="LinkedIn icon (optional)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783080"/>
            <a:ext cx="457200" cy="457200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2651760" y="228600"/>
            <a:ext cx="19202400" cy="14173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000000"/>
                </a:solidFill>
                <a:latin typeface="Arial"/>
              </a:rPr>
              <a:t>Title: your research problem and its answer</a:t>
            </a:r>
          </a:p>
        </p:txBody>
      </p:sp>
      <p:sp>
        <p:nvSpPr>
          <p:cNvPr id="7" name="Authors and affiliations"/>
          <p:cNvSpPr txBox="1"/>
          <p:nvPr/>
        </p:nvSpPr>
        <p:spPr>
          <a:xfrm>
            <a:off x="2651760" y="1600200"/>
            <a:ext cx="19202400" cy="10058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Arial"/>
              </a:rPr>
              <a:t>Your Name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 ·  Your major, Your college  ·  John Martinson Honors College, Purdue University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404040"/>
                </a:solidFill>
                <a:latin typeface="Arial"/>
              </a:rPr>
              <a:t>Faculty mentor: Professor Davi Moreira, Mitch Daniels School of Business  ·  your.email@purdue.edu</a:t>
            </a:r>
          </a:p>
        </p:txBody>
      </p:sp>
      <p:pic>
        <p:nvPicPr>
          <p:cNvPr id="8" name="Purdue University mark" descr="Purdue University"/>
          <p:cNvPicPr>
            <a:picLocks noChangeAspect="1"/>
          </p:cNvPicPr>
          <p:nvPr/>
        </p:nvPicPr>
        <p:blipFill>
          <a:blip r:embed="rId4"/>
          <a:srcRect r="45327"/>
          <a:stretch>
            <a:fillRect/>
          </a:stretch>
        </p:blipFill>
        <p:spPr>
          <a:xfrm>
            <a:off x="21945600" y="411480"/>
            <a:ext cx="5382326" cy="1051560"/>
          </a:xfrm>
          <a:prstGeom prst="rect">
            <a:avLst/>
          </a:prstGeom>
        </p:spPr>
      </p:pic>
      <p:sp>
        <p:nvSpPr>
          <p:cNvPr id="9" name="Lockup rule"/>
          <p:cNvSpPr/>
          <p:nvPr/>
        </p:nvSpPr>
        <p:spPr>
          <a:xfrm>
            <a:off x="27556526" y="457200"/>
            <a:ext cx="27432" cy="960119"/>
          </a:xfrm>
          <a:prstGeom prst="rect">
            <a:avLst/>
          </a:prstGeom>
          <a:solidFill>
            <a:srgbClr val="8E8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onors College"/>
          <p:cNvSpPr txBox="1"/>
          <p:nvPr/>
        </p:nvSpPr>
        <p:spPr>
          <a:xfrm>
            <a:off x="27693686" y="365760"/>
            <a:ext cx="2938713" cy="118872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John Martinson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Honors College</a:t>
            </a:r>
          </a:p>
        </p:txBody>
      </p:sp>
      <p:sp>
        <p:nvSpPr>
          <p:cNvPr id="11" name="Draft tag (delete it in your M11 final poster)"/>
          <p:cNvSpPr/>
          <p:nvPr/>
        </p:nvSpPr>
        <p:spPr>
          <a:xfrm>
            <a:off x="24688800" y="1783080"/>
            <a:ext cx="5943600" cy="640080"/>
          </a:xfrm>
          <a:prstGeom prst="round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PRELIMINARY DRAFT · version 1</a:t>
            </a:r>
          </a:p>
        </p:txBody>
      </p:sp>
      <p:sp>
        <p:nvSpPr>
          <p:cNvPr id="12" name="Headline banner"/>
          <p:cNvSpPr/>
          <p:nvPr/>
        </p:nvSpPr>
        <p:spPr>
          <a:xfrm>
            <a:off x="457200" y="2697480"/>
            <a:ext cx="30175200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>
            <a:no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CFB991"/>
                </a:solidFill>
                <a:latin typeface="Arial"/>
              </a:rPr>
              <a:t>HEADLINE  </a:t>
            </a:r>
            <a:r>
              <a:rPr sz="3200" b="1" i="0">
                <a:solidFill>
                  <a:srgbClr val="FFFFFF"/>
                </a:solidFill>
                <a:latin typeface="Arial"/>
              </a:rPr>
              <a:t>Your main finding, with the uncertainty or boundary that changes how a reader should take it.</a:t>
            </a:r>
          </a:p>
          <a:p>
            <a:pPr algn="l">
              <a:spcAft>
                <a:spcPts val="700"/>
              </a:spcAft>
            </a:pPr>
            <a:r>
              <a:rPr sz="2200" b="0" i="1">
                <a:solidFill>
                  <a:srgbClr val="CFB991"/>
                </a:solidFill>
                <a:latin typeface="Arial"/>
              </a:rPr>
              <a:t>Simulated example: checkout version B averaged 3.2 points higher than version A, but the 95% interval for that difference runs from −2.5 to 9.0 points (12 weekly samples per version, one store).</a:t>
            </a:r>
          </a:p>
        </p:txBody>
      </p:sp>
      <p:sp>
        <p:nvSpPr>
          <p:cNvPr id="13" name="Heading: ABSTRACT"/>
          <p:cNvSpPr/>
          <p:nvPr/>
        </p:nvSpPr>
        <p:spPr>
          <a:xfrm>
            <a:off x="45720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ABSTRACT</a:t>
            </a:r>
          </a:p>
        </p:txBody>
      </p:sp>
      <p:sp>
        <p:nvSpPr>
          <p:cNvPr id="14" name="Abstract text"/>
          <p:cNvSpPr txBox="1"/>
          <p:nvPr/>
        </p:nvSpPr>
        <p:spPr>
          <a:xfrm>
            <a:off x="457200" y="5257799"/>
            <a:ext cx="7269480" cy="402336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Up to 150 words, one paragraph: your OURConnect abstract, updated to your verified results. Keep its four parts in order: the question and its answer; what the literature concludes and what you add; the data and the design; the main result with its uncertainty, and the limitation that matters most.</a:t>
            </a:r>
          </a:p>
        </p:txBody>
      </p:sp>
      <p:sp>
        <p:nvSpPr>
          <p:cNvPr id="15" name="Heading: THE QUESTION AND WHY IT MATTERS"/>
          <p:cNvSpPr/>
          <p:nvPr/>
        </p:nvSpPr>
        <p:spPr>
          <a:xfrm>
            <a:off x="457200" y="941832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THE QUESTION AND WHY IT MATTERS</a:t>
            </a:r>
          </a:p>
        </p:txBody>
      </p:sp>
      <p:sp>
        <p:nvSpPr>
          <p:cNvPr id="16" name="Question text"/>
          <p:cNvSpPr txBox="1"/>
          <p:nvPr/>
        </p:nvSpPr>
        <p:spPr>
          <a:xfrm>
            <a:off x="457200" y="10012680"/>
            <a:ext cx="7269480" cy="42062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research question,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one sentence ending with a question mark.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Why it matters, and to whom: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scientific or practical stake.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main hypothesis,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as you recorded it before the analysis ran. Label later analysis as exploratory.</a:t>
            </a:r>
          </a:p>
        </p:txBody>
      </p:sp>
      <p:sp>
        <p:nvSpPr>
          <p:cNvPr id="17" name="Heading: WHAT IS ALREADY KNOWN"/>
          <p:cNvSpPr/>
          <p:nvPr/>
        </p:nvSpPr>
        <p:spPr>
          <a:xfrm>
            <a:off x="457200" y="1453896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WHAT IS ALREADY KNOWN</a:t>
            </a:r>
          </a:p>
        </p:txBody>
      </p:sp>
      <p:sp>
        <p:nvSpPr>
          <p:cNvPr id="18" name="Literature text"/>
          <p:cNvSpPr txBox="1"/>
          <p:nvPr/>
        </p:nvSpPr>
        <p:spPr>
          <a:xfrm>
            <a:off x="457200" y="15133320"/>
            <a:ext cx="7269480" cy="470915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main conclusion of the literature,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from at least two sources you read yourself (Author, Year).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gap,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and what your project adds to that conclusion.</a:t>
            </a:r>
          </a:p>
        </p:txBody>
      </p:sp>
      <p:sp>
        <p:nvSpPr>
          <p:cNvPr id="19" name="Heading: DESIGN: WHAT YOUR CLAIM NEEDS"/>
          <p:cNvSpPr/>
          <p:nvPr/>
        </p:nvSpPr>
        <p:spPr>
          <a:xfrm>
            <a:off x="809244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DESIGN: WHAT YOUR CLAIM NEEDS</a:t>
            </a:r>
          </a:p>
        </p:txBody>
      </p:sp>
      <p:sp>
        <p:nvSpPr>
          <p:cNvPr id="20" name="Compass box: KIND: label"/>
          <p:cNvSpPr/>
          <p:nvPr/>
        </p:nvSpPr>
        <p:spPr>
          <a:xfrm>
            <a:off x="8092440" y="5303519"/>
            <a:ext cx="160020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KIND</a:t>
            </a:r>
          </a:p>
        </p:txBody>
      </p:sp>
      <p:sp>
        <p:nvSpPr>
          <p:cNvPr id="21" name="Compass box: KIND"/>
          <p:cNvSpPr/>
          <p:nvPr/>
        </p:nvSpPr>
        <p:spPr>
          <a:xfrm>
            <a:off x="9692640" y="5303519"/>
            <a:ext cx="566928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Descriptive  ☐ Causal. If your aim is prediction, say so.</a:t>
            </a:r>
          </a:p>
        </p:txBody>
      </p:sp>
      <p:sp>
        <p:nvSpPr>
          <p:cNvPr id="22" name="Compass box: REACH: label"/>
          <p:cNvSpPr/>
          <p:nvPr/>
        </p:nvSpPr>
        <p:spPr>
          <a:xfrm>
            <a:off x="8092440" y="6153911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REACH</a:t>
            </a:r>
          </a:p>
        </p:txBody>
      </p:sp>
      <p:sp>
        <p:nvSpPr>
          <p:cNvPr id="23" name="Compass box: REACH"/>
          <p:cNvSpPr/>
          <p:nvPr/>
        </p:nvSpPr>
        <p:spPr>
          <a:xfrm>
            <a:off x="9692640" y="6153911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A population beyond your data (units, setting, period)  ☐ Unseen cases: which, from where.</a:t>
            </a:r>
          </a:p>
        </p:txBody>
      </p:sp>
      <p:sp>
        <p:nvSpPr>
          <p:cNvPr id="24" name="Compass box: TARGET: label"/>
          <p:cNvSpPr/>
          <p:nvPr/>
        </p:nvSpPr>
        <p:spPr>
          <a:xfrm>
            <a:off x="8092440" y="7278623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TARGET</a:t>
            </a:r>
          </a:p>
        </p:txBody>
      </p:sp>
      <p:sp>
        <p:nvSpPr>
          <p:cNvPr id="25" name="Compass box: TARGET"/>
          <p:cNvSpPr/>
          <p:nvPr/>
        </p:nvSpPr>
        <p:spPr>
          <a:xfrm>
            <a:off x="9692640" y="7278623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The exact quantity you estimate or predict: outcome, comparison, units, time.</a:t>
            </a:r>
          </a:p>
        </p:txBody>
      </p:sp>
      <p:sp>
        <p:nvSpPr>
          <p:cNvPr id="26" name="Compass box: WARRANT: label"/>
          <p:cNvSpPr/>
          <p:nvPr/>
        </p:nvSpPr>
        <p:spPr>
          <a:xfrm>
            <a:off x="8092440" y="8403336"/>
            <a:ext cx="1600200" cy="1325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WARRANT</a:t>
            </a:r>
          </a:p>
        </p:txBody>
      </p:sp>
      <p:sp>
        <p:nvSpPr>
          <p:cNvPr id="27" name="Compass box: WARRANT"/>
          <p:cNvSpPr/>
          <p:nvPr/>
        </p:nvSpPr>
        <p:spPr>
          <a:xfrm>
            <a:off x="9692640" y="8403336"/>
            <a:ext cx="5669280" cy="1325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Sampling → a population · assignment or identification (with assumptions) → a cause · held-out test vs. a baseline → unseen cases.</a:t>
            </a:r>
          </a:p>
        </p:txBody>
      </p:sp>
      <p:sp>
        <p:nvSpPr>
          <p:cNvPr id="28" name="Heading: DATA AND MEASUREMENT"/>
          <p:cNvSpPr/>
          <p:nvPr/>
        </p:nvSpPr>
        <p:spPr>
          <a:xfrm>
            <a:off x="8092440" y="100584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DATA AND MEASUREMENT</a:t>
            </a:r>
          </a:p>
        </p:txBody>
      </p:sp>
      <p:graphicFrame>
        <p:nvGraphicFramePr>
          <p:cNvPr id="29" name="Data card"/>
          <p:cNvGraphicFramePr>
            <a:graphicFrameLocks noGrp="1"/>
          </p:cNvGraphicFramePr>
          <p:nvPr/>
        </p:nvGraphicFramePr>
        <p:xfrm>
          <a:off x="8092440" y="10698480"/>
          <a:ext cx="726948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0280"/>
                <a:gridCol w="5029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Source and route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[archive, URL or DOI, retrieval date; or protocol]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Observations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[rows or measurements]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Independent units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[people, sites, groups …]; how grouped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Time window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[from … to …]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Concept → measure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[concept] → [variable]; validity concern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Missing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[how much; what you did]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Permissions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[data licence; IRB determination]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Heading: METHODS"/>
          <p:cNvSpPr/>
          <p:nvPr/>
        </p:nvSpPr>
        <p:spPr>
          <a:xfrm>
            <a:off x="8092440" y="14950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METHODS</a:t>
            </a:r>
          </a:p>
        </p:txBody>
      </p:sp>
      <p:sp>
        <p:nvSpPr>
          <p:cNvPr id="31" name="Methods text"/>
          <p:cNvSpPr txBox="1"/>
          <p:nvPr/>
        </p:nvSpPr>
        <p:spPr>
          <a:xfrm>
            <a:off x="8092440" y="15544800"/>
            <a:ext cx="7269480" cy="42976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Analysis: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comparison, estimator, or model you declared before seeing results, and why it fits your design; any later change, and why.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you computed it, at the level of your independent unit, with any dependence named.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Tools: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software, seed (SEED = 464), and where the notebook lives.</a:t>
            </a:r>
          </a:p>
        </p:txBody>
      </p:sp>
      <p:sp>
        <p:nvSpPr>
          <p:cNvPr id="32" name="Heading: MAIN RESULT"/>
          <p:cNvSpPr/>
          <p:nvPr/>
        </p:nvSpPr>
        <p:spPr>
          <a:xfrm>
            <a:off x="1572768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MAIN RESULT</a:t>
            </a:r>
          </a:p>
        </p:txBody>
      </p:sp>
      <p:sp>
        <p:nvSpPr>
          <p:cNvPr id="33" name="Example stamp"/>
          <p:cNvSpPr txBox="1"/>
          <p:nvPr/>
        </p:nvSpPr>
        <p:spPr>
          <a:xfrm>
            <a:off x="15727680" y="5230367"/>
            <a:ext cx="7269480" cy="4114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Arial"/>
              </a:rPr>
              <a:t>EXAMPLE · replace with your notebook's figure and its alt text</a:t>
            </a:r>
          </a:p>
        </p:txBody>
      </p:sp>
      <p:pic>
        <p:nvPicPr>
          <p:cNvPr id="34" name="Example figure (replace)" descr="Simulated example. Top: mean checkout completion rate by version, A about 71 percent and B about 74 percent, each with a 95 percent interval of about plus or minus 4 points. Bottom: the difference, B minus A, 3.2 points, with a 95 percent interval from −2.5 to 9.0 points that crosses zero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0" y="5669279"/>
            <a:ext cx="7269480" cy="8359902"/>
          </a:xfrm>
          <a:prstGeom prst="rect">
            <a:avLst/>
          </a:prstGeom>
        </p:spPr>
      </p:pic>
      <p:sp>
        <p:nvSpPr>
          <p:cNvPr id="35" name="Figure caption"/>
          <p:cNvSpPr txBox="1"/>
          <p:nvPr/>
        </p:nvSpPr>
        <p:spPr>
          <a:xfrm>
            <a:off x="15727680" y="14074902"/>
            <a:ext cx="7269480" cy="11887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Fig. 1.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What it shows and for which units; n; the interval's type and level; bars start at zero. Source: [notebook], cell [N]. Panel (b) is the comparison the headline is about.</a:t>
            </a:r>
          </a:p>
        </p:txBody>
      </p:sp>
      <p:sp>
        <p:nvSpPr>
          <p:cNvPr id="36" name="Result text"/>
          <p:cNvSpPr txBox="1"/>
          <p:nvPr/>
        </p:nvSpPr>
        <p:spPr>
          <a:xfrm>
            <a:off x="15727680" y="15217901"/>
            <a:ext cx="7269480" cy="101269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result,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numbers, units, and the uncertainty it warrants, in the words your boundary allows.</a:t>
            </a:r>
          </a:p>
        </p:txBody>
      </p:sp>
      <p:sp>
        <p:nvSpPr>
          <p:cNvPr id="37" name="Heading: CHECKS AND VERIFICATION"/>
          <p:cNvSpPr/>
          <p:nvPr/>
        </p:nvSpPr>
        <p:spPr>
          <a:xfrm>
            <a:off x="15727680" y="16322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CHECKS AND VERIFICATION</a:t>
            </a:r>
          </a:p>
        </p:txBody>
      </p:sp>
      <p:sp>
        <p:nvSpPr>
          <p:cNvPr id="38" name="Checks text"/>
          <p:cNvSpPr txBox="1"/>
          <p:nvPr/>
        </p:nvSpPr>
        <p:spPr>
          <a:xfrm>
            <a:off x="15727680" y="16916400"/>
            <a:ext cx="7269480" cy="29260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One check: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 robustness, sensitivity, or diagnostic check, and what it changed.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Verification: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what was reproduced from your package, by whom, when; label a solo rerun “solo proxy; external cold run pending”.</a:t>
            </a:r>
          </a:p>
        </p:txBody>
      </p:sp>
      <p:sp>
        <p:nvSpPr>
          <p:cNvPr id="39" name="Heading: CONCLUSIONS"/>
          <p:cNvSpPr/>
          <p:nvPr/>
        </p:nvSpPr>
        <p:spPr>
          <a:xfrm>
            <a:off x="23362919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CONCLUSIONS</a:t>
            </a:r>
          </a:p>
        </p:txBody>
      </p:sp>
      <p:sp>
        <p:nvSpPr>
          <p:cNvPr id="40" name="Conclusion: THIS EVIDENCE SUPPORTS"/>
          <p:cNvSpPr/>
          <p:nvPr/>
        </p:nvSpPr>
        <p:spPr>
          <a:xfrm>
            <a:off x="2336291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THIS EVIDENCE SUPPORTS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[your claim, its verb, its population]</a:t>
            </a:r>
          </a:p>
        </p:txBody>
      </p:sp>
      <p:sp>
        <p:nvSpPr>
          <p:cNvPr id="41" name="Conclusion: IT DOES NOT YET SUPPORT"/>
          <p:cNvSpPr/>
          <p:nvPr/>
        </p:nvSpPr>
        <p:spPr>
          <a:xfrm>
            <a:off x="2706623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IT DOES NOT YET SUPPORT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[a cause? a wider population?]</a:t>
            </a:r>
          </a:p>
        </p:txBody>
      </p:sp>
      <p:sp>
        <p:nvSpPr>
          <p:cNvPr id="42" name="Conclusions text"/>
          <p:cNvSpPr txBox="1"/>
          <p:nvPr/>
        </p:nvSpPr>
        <p:spPr>
          <a:xfrm>
            <a:off x="23362919" y="6812279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Answer your question in one or two sentences, no more strongly than the evidence allows, and say what it means for the stakeholder.</a:t>
            </a:r>
          </a:p>
        </p:txBody>
      </p:sp>
      <p:sp>
        <p:nvSpPr>
          <p:cNvPr id="43" name="Heading: LIMITATIONS"/>
          <p:cNvSpPr/>
          <p:nvPr/>
        </p:nvSpPr>
        <p:spPr>
          <a:xfrm>
            <a:off x="23362919" y="909828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LIMITATIONS</a:t>
            </a:r>
          </a:p>
        </p:txBody>
      </p:sp>
      <p:sp>
        <p:nvSpPr>
          <p:cNvPr id="44" name="Limitations text"/>
          <p:cNvSpPr txBox="1"/>
          <p:nvPr/>
        </p:nvSpPr>
        <p:spPr>
          <a:xfrm>
            <a:off x="23362919" y="9692640"/>
            <a:ext cx="7269480" cy="24688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far the estimate could move.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Limitation: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one most likely to change the finding.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Next step: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study that would settle it.</a:t>
            </a:r>
          </a:p>
        </p:txBody>
      </p:sp>
      <p:sp>
        <p:nvSpPr>
          <p:cNvPr id="45" name="Heading: AI USE DISCLOSURE"/>
          <p:cNvSpPr/>
          <p:nvPr/>
        </p:nvSpPr>
        <p:spPr>
          <a:xfrm>
            <a:off x="23362919" y="12664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AI USE DISCLOSURE</a:t>
            </a:r>
          </a:p>
        </p:txBody>
      </p:sp>
      <p:sp>
        <p:nvSpPr>
          <p:cNvPr id="46" name="AI disclosure"/>
          <p:cNvSpPr txBox="1"/>
          <p:nvPr/>
        </p:nvSpPr>
        <p:spPr>
          <a:xfrm>
            <a:off x="23362919" y="13258800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One line per tool, on the poster: </a:t>
            </a:r>
            <a:r>
              <a:rPr sz="1800" b="0" i="1">
                <a:solidFill>
                  <a:srgbClr val="000000"/>
                </a:solidFill>
                <a:latin typeface="Arial"/>
              </a:rPr>
              <a:t>[Tool]: used to [purpose]; I [changed / kept what]; I checked it by [method].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Arial"/>
              </a:rPr>
              <a:t>Write “No AI used” only if that is true.</a:t>
            </a:r>
          </a:p>
        </p:txBody>
      </p:sp>
      <p:sp>
        <p:nvSpPr>
          <p:cNvPr id="47" name="Heading: REFERENCES"/>
          <p:cNvSpPr/>
          <p:nvPr/>
        </p:nvSpPr>
        <p:spPr>
          <a:xfrm>
            <a:off x="23362919" y="15179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REFERENCES</a:t>
            </a:r>
          </a:p>
        </p:txBody>
      </p:sp>
      <p:sp>
        <p:nvSpPr>
          <p:cNvPr id="48" name="References text"/>
          <p:cNvSpPr txBox="1"/>
          <p:nvPr/>
        </p:nvSpPr>
        <p:spPr>
          <a:xfrm>
            <a:off x="23362919" y="15773400"/>
            <a:ext cx="7269480" cy="16916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Three to six sources you opened yourself. Author (Year). Title. Venue. DOI or URL.</a:t>
            </a:r>
          </a:p>
        </p:txBody>
      </p:sp>
      <p:sp>
        <p:nvSpPr>
          <p:cNvPr id="49" name="Heading: ACKNOWLEDGMENTS"/>
          <p:cNvSpPr/>
          <p:nvPr/>
        </p:nvSpPr>
        <p:spPr>
          <a:xfrm>
            <a:off x="23362919" y="176022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ACKNOWLEDGMENTS</a:t>
            </a:r>
          </a:p>
        </p:txBody>
      </p:sp>
      <p:sp>
        <p:nvSpPr>
          <p:cNvPr id="50" name="Acknowledgments text"/>
          <p:cNvSpPr txBox="1"/>
          <p:nvPr/>
        </p:nvSpPr>
        <p:spPr>
          <a:xfrm>
            <a:off x="23362919" y="18196560"/>
            <a:ext cx="5943600" cy="164591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I thank Professor Davi Moreira for mentoring this project, and the John Martinson Honors College and the Office of Undergraduate Research for the chance to present it. [Thank any data provider, participants, or funder.]</a:t>
            </a:r>
          </a:p>
        </p:txBody>
      </p:sp>
      <p:sp>
        <p:nvSpPr>
          <p:cNvPr id="51" name="QR code placeholder"/>
          <p:cNvSpPr/>
          <p:nvPr/>
        </p:nvSpPr>
        <p:spPr>
          <a:xfrm>
            <a:off x="29397960" y="18242280"/>
            <a:ext cx="1234440" cy="1234440"/>
          </a:xfrm>
          <a:prstGeom prst="rect">
            <a:avLst/>
          </a:prstGeom>
          <a:solidFill>
            <a:srgbClr val="FFFFFF"/>
          </a:solidFill>
          <a:ln w="31750">
            <a:solidFill>
              <a:srgbClr val="8E8E8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Optional QR</a:t>
            </a:r>
          </a:p>
        </p:txBody>
      </p:sp>
      <p:sp>
        <p:nvSpPr>
          <p:cNvPr id="52" name="Verification status line"/>
          <p:cNvSpPr txBox="1"/>
          <p:nvPr/>
        </p:nvSpPr>
        <p:spPr>
          <a:xfrm>
            <a:off x="457200" y="19979640"/>
            <a:ext cx="169164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Verification status: [what has been checked, by whom, and when; what is pending] · Poster version [N], [date]</a:t>
            </a:r>
          </a:p>
        </p:txBody>
      </p:sp>
      <p:sp>
        <p:nvSpPr>
          <p:cNvPr id="53" name="Status line"/>
          <p:cNvSpPr txBox="1"/>
          <p:nvPr/>
        </p:nvSpPr>
        <p:spPr>
          <a:xfrm>
            <a:off x="17830800" y="19979640"/>
            <a:ext cx="128016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r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Preliminary results · HONR 46400 Evidence-Driven Research · Purdue Fall Undergraduate Research Expo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Guide title"/>
          <p:cNvSpPr txBox="1"/>
          <p:nvPr/>
        </p:nvSpPr>
        <p:spPr>
          <a:xfrm>
            <a:off x="457200" y="365760"/>
            <a:ext cx="30175200" cy="14630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4800" b="1" i="0">
                <a:solidFill>
                  <a:srgbClr val="000000"/>
                </a:solidFill>
                <a:latin typeface="Arial"/>
              </a:rPr>
              <a:t>READ ME: how to use this template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8A1C2B"/>
                </a:solidFill>
                <a:latin typeface="Arial"/>
              </a:rPr>
              <a:t>This page is hidden, but some export settings still include hidden slides. Export slide 1 only, or delete this page first.</a:t>
            </a:r>
          </a:p>
        </p:txBody>
      </p:sp>
      <p:sp>
        <p:nvSpPr>
          <p:cNvPr id="3" name="Heading: PRINT SPECIFICATION"/>
          <p:cNvSpPr/>
          <p:nvPr/>
        </p:nvSpPr>
        <p:spPr>
          <a:xfrm>
            <a:off x="45720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PRINT SPECIFICATION</a:t>
            </a:r>
          </a:p>
        </p:txBody>
      </p:sp>
      <p:sp>
        <p:nvSpPr>
          <p:cNvPr id="4" name="Guide: print spec"/>
          <p:cNvSpPr txBox="1"/>
          <p:nvPr/>
        </p:nvSpPr>
        <p:spPr>
          <a:xfrm>
            <a:off x="45720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Size: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34 × 22.5 in, landscape, the course format shared with QM 47400's print run. Do not change the slide size.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Type, in this file: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title 54 pt; headline 32 pt; headings 24 pt; everything substantive 18 pt; captions, references, acknowledgments and footer 13 pt. If it does not fit, cut or reorganize; never shrink below these.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Photo: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replace the example photo with yours, or delete it.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Figures: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save each from your notebook as PNG at 300 dpi, or PDF/SVG; never a screenshot. Right-click → Edit Alt Text, and say what it shows.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Export: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slide 1 only, as a PDF: exactly one page, 34 × 22.5 in, nothing clipped.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Files: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M10: lastname_m10_poster.pptx + .pdf. M11: lastname_m11_poster.pdf, your final poster. M13: lastname_m13_poster.pdf, the print file: your M11 poster with only the peer-review repairs.</a:t>
            </a:r>
          </a:p>
        </p:txBody>
      </p:sp>
      <p:sp>
        <p:nvSpPr>
          <p:cNvPr id="5" name="Heading: RULES THE BOARD KEEPS"/>
          <p:cNvSpPr/>
          <p:nvPr/>
        </p:nvSpPr>
        <p:spPr>
          <a:xfrm>
            <a:off x="1069848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RULES THE BOARD KEEPS</a:t>
            </a:r>
          </a:p>
        </p:txBody>
      </p:sp>
      <p:sp>
        <p:nvSpPr>
          <p:cNvPr id="6" name="Guide: rules"/>
          <p:cNvSpPr txBox="1"/>
          <p:nvPr/>
        </p:nvSpPr>
        <p:spPr>
          <a:xfrm>
            <a:off x="1069848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Start from your M9 note: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each of its sections drafts the panel with the same name.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New is welcome; untraced is not.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Anything added after M9 gets a row in your claim-to-evidence table first: computed results to their notebook cell, quoted statistics to their source.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The qualifier travels with the claim,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in the headline's eye-span.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Causal wording only with a defended identification argument;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population wording only with a reach argument.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Two channels for every distinction: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label or pattern, colour as a bonus.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Replace every bracket, prompt and EXAMPLE item.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Panels may resize; every section stays.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Check the board against the rubric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before M10 and M11: one line per criterion in your rubric self-check.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Draft tag on your M10 draft; delete it in your M11 final poster.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Keep “Preliminary results” in the footer.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AI: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disclose on the poster, per tool: purpose, what you changed or kept, how you checked it. The Expo does not accept AI-generated sections or abstracts, or an AI-designed poster.</a:t>
            </a:r>
          </a:p>
        </p:txBody>
      </p:sp>
      <p:sp>
        <p:nvSpPr>
          <p:cNvPr id="7" name="Heading: RUBRIC → SECTIONS → BOOK"/>
          <p:cNvSpPr/>
          <p:nvPr/>
        </p:nvSpPr>
        <p:spPr>
          <a:xfrm>
            <a:off x="2093976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RUBRIC → SECTIONS → BOOK</a:t>
            </a:r>
          </a:p>
        </p:txBody>
      </p:sp>
      <p:graphicFrame>
        <p:nvGraphicFramePr>
          <p:cNvPr id="8" name="Guide: rubric map"/>
          <p:cNvGraphicFramePr>
            <a:graphicFrameLocks noGrp="1"/>
          </p:cNvGraphicFramePr>
          <p:nvPr/>
        </p:nvGraphicFramePr>
        <p:xfrm>
          <a:off x="20939760" y="3063240"/>
          <a:ext cx="9692639" cy="78181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023359"/>
                <a:gridCol w="2103120"/>
              </a:tblGrid>
              <a:tr h="8686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Rubric criterion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Sections it reads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FB991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1. Question, context &amp; contribution (10)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Title · Abstract · The question and why it matters · What is already known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1, 7–9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2. Target, design &amp; warranted claims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Design: what your claim needs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6–7, 10, 12, 14–19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3. Research design &amp; methodology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Design: what your claim needs · Data and measurement · Methods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10, 12–21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4. Checks &amp; verification (12)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Checks and verification · verification status 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11, 22–25, 36–37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5. Results &amp; figure honesty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Main result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6. Interpretation, uncertainty &amp; limitations (15)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Headline · Conclusions · Limitations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28–29, 35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7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7. Sources, AI disclosure &amp; credit (8)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AI use disclosure · References · Acknowledgments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9, 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86868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8. Visual communication &amp; accessibility (10)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The whole board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Arial"/>
                        </a:rPr>
                        <a:t>Ch. 32–33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Guide: rubric"/>
          <p:cNvSpPr txBox="1"/>
          <p:nvPr/>
        </p:nvSpPr>
        <p:spPr>
          <a:xfrm>
            <a:off x="20939760" y="11887200"/>
            <a:ext cx="9692640" cy="36576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Your final poster (M11) is graded with Evidence_Driven_Research_Poster_Rubric.pdf: eight criteria, 100 points, hard caps. Read it before you build, and check your board against it before M10 and M11.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HONR 46400 research poster template</dc:title>
  <dc:subject>Purdue Fall Undergraduate Research Expo poster, 34 x 22.5 in</dc:subject>
  <dc:creator>Davi Moreira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